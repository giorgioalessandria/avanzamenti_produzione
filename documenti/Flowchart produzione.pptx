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</p:sldMasterIdLst>
  <p:notesMasterIdLst>
    <p:notesMasterId r:id="rId12"/>
  </p:notesMasterIdLst>
  <p:sldIdLst>
    <p:sldId id="273" r:id="rId2"/>
    <p:sldId id="269" r:id="rId3"/>
    <p:sldId id="266" r:id="rId4"/>
    <p:sldId id="268" r:id="rId5"/>
    <p:sldId id="267" r:id="rId6"/>
    <p:sldId id="271" r:id="rId7"/>
    <p:sldId id="263" r:id="rId8"/>
    <p:sldId id="272" r:id="rId9"/>
    <p:sldId id="264" r:id="rId10"/>
    <p:sldId id="265" r:id="rId11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zioni" id="{A24D4934-9518-4AB2-B3CB-CA703ED2A1E1}">
          <p14:sldIdLst>
            <p14:sldId id="273"/>
            <p14:sldId id="269"/>
            <p14:sldId id="266"/>
            <p14:sldId id="268"/>
            <p14:sldId id="267"/>
            <p14:sldId id="271"/>
            <p14:sldId id="263"/>
            <p14:sldId id="272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03" autoAdjust="0"/>
    <p:restoredTop sz="53333" autoAdjust="0"/>
  </p:normalViewPr>
  <p:slideViewPr>
    <p:cSldViewPr snapToGrid="0">
      <p:cViewPr>
        <p:scale>
          <a:sx n="75" d="100"/>
          <a:sy n="75" d="100"/>
        </p:scale>
        <p:origin x="2538" y="-3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75" d="100"/>
          <a:sy n="75" d="100"/>
        </p:scale>
        <p:origin x="5946" y="66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F50DF4-2CEB-49FB-ADA8-0FDF08F6A19B}" type="datetimeFigureOut">
              <a:rPr lang="it-IT" smtClean="0"/>
              <a:t>06/11/2025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1CADA-ADCB-4B03-B17D-C3A9B9C036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04244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81075" y="1241425"/>
            <a:ext cx="4835525" cy="3349625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1CADA-ADCB-4B03-B17D-C3A9B9C03637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319579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Prevedere la sospensione degli ordini di produzione.</a:t>
            </a:r>
          </a:p>
          <a:p>
            <a:r>
              <a:rPr lang="it-IT" dirty="0"/>
              <a:t>Giacenza dei lotti precedenti.</a:t>
            </a:r>
          </a:p>
          <a:p>
            <a:r>
              <a:rPr lang="it-IT" dirty="0"/>
              <a:t>Viene caricata anche l’anagrafica delle lavorazioni e reparti.</a:t>
            </a:r>
          </a:p>
          <a:p>
            <a:r>
              <a:rPr lang="it-IT" dirty="0"/>
              <a:t>Viste a disposizione</a:t>
            </a:r>
            <a:br>
              <a:rPr lang="it-IT" dirty="0"/>
            </a:br>
            <a:r>
              <a:rPr lang="it-IT" dirty="0"/>
              <a:t>-Anagrafica componenti</a:t>
            </a:r>
          </a:p>
          <a:p>
            <a:r>
              <a:rPr lang="it-IT" dirty="0"/>
              <a:t>-Lavorazioni</a:t>
            </a:r>
          </a:p>
          <a:p>
            <a:r>
              <a:rPr lang="it-IT" dirty="0"/>
              <a:t>-Lotti</a:t>
            </a:r>
          </a:p>
          <a:p>
            <a:r>
              <a:rPr lang="it-IT" dirty="0"/>
              <a:t>-Risorse di produzione</a:t>
            </a:r>
          </a:p>
          <a:p>
            <a:r>
              <a:rPr lang="it-IT" dirty="0"/>
              <a:t>-Anagrafica causali fermi macchina</a:t>
            </a:r>
          </a:p>
          <a:p>
            <a:r>
              <a:rPr lang="it-IT" dirty="0"/>
              <a:t>-Ordini di produzione</a:t>
            </a:r>
          </a:p>
          <a:p>
            <a:r>
              <a:rPr lang="it-IT" dirty="0"/>
              <a:t>Ritorno dati</a:t>
            </a:r>
          </a:p>
          <a:p>
            <a:pPr marL="171450" indent="-171450">
              <a:buFontTx/>
              <a:buChar char="-"/>
            </a:pPr>
            <a:r>
              <a:rPr lang="it-IT" dirty="0"/>
              <a:t>File </a:t>
            </a:r>
            <a:r>
              <a:rPr lang="it-IT" dirty="0" err="1"/>
              <a:t>txt</a:t>
            </a:r>
            <a:endParaRPr lang="it-IT" dirty="0"/>
          </a:p>
          <a:p>
            <a:pPr marL="171450" indent="-171450">
              <a:buFontTx/>
              <a:buChar char="-"/>
            </a:pPr>
            <a:r>
              <a:rPr lang="it-IT" dirty="0"/>
              <a:t>Scrittura su DB</a:t>
            </a:r>
          </a:p>
          <a:p>
            <a:pPr marL="171450" indent="-171450">
              <a:buFontTx/>
              <a:buChar char="-"/>
            </a:pPr>
            <a:r>
              <a:rPr lang="it-IT" dirty="0"/>
              <a:t>Web services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1CADA-ADCB-4B03-B17D-C3A9B9C03637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83152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DAB89-E5D2-C4B4-368E-147CE2867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ED16532-7411-72B7-A6C2-C62066F7B2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81075" y="1241425"/>
            <a:ext cx="4835525" cy="3349625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9F8B38B-6B6A-2A86-E207-42E371EB94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3466562-6FC9-0423-F3FA-697BE46FBB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1CADA-ADCB-4B03-B17D-C3A9B9C03637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61272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DEC73-07B9-3CC5-B9EE-BC15BC84B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8891660-60D0-917B-A9DD-9D6C88B1A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81075" y="1241425"/>
            <a:ext cx="4835525" cy="3349625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BAF1644-C979-A47A-BC6C-9E2B480753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E3E63CF-F06E-9824-BBF7-2C51AFCAEF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1CADA-ADCB-4B03-B17D-C3A9B9C03637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75485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2CE5C-CA33-47F5-AB64-2B6A36D0DED0}" type="datetimeFigureOut">
              <a:rPr lang="it-IT" smtClean="0"/>
              <a:t>06/11/2025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1DE59-87EC-4745-B7EA-8BEF106B7A1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70107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2CE5C-CA33-47F5-AB64-2B6A36D0DED0}" type="datetimeFigureOut">
              <a:rPr lang="it-IT" smtClean="0"/>
              <a:t>06/11/2025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1DE59-87EC-4745-B7EA-8BEF106B7A1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39672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2CE5C-CA33-47F5-AB64-2B6A36D0DED0}" type="datetimeFigureOut">
              <a:rPr lang="it-IT" smtClean="0"/>
              <a:t>06/11/2025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1DE59-87EC-4745-B7EA-8BEF106B7A1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66917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2CE5C-CA33-47F5-AB64-2B6A36D0DED0}" type="datetimeFigureOut">
              <a:rPr lang="it-IT" smtClean="0"/>
              <a:t>06/11/2025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1DE59-87EC-4745-B7EA-8BEF106B7A1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23969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2CE5C-CA33-47F5-AB64-2B6A36D0DED0}" type="datetimeFigureOut">
              <a:rPr lang="it-IT" smtClean="0"/>
              <a:t>06/11/2025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1DE59-87EC-4745-B7EA-8BEF106B7A1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0886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2CE5C-CA33-47F5-AB64-2B6A36D0DED0}" type="datetimeFigureOut">
              <a:rPr lang="it-IT" smtClean="0"/>
              <a:t>06/11/2025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1DE59-87EC-4745-B7EA-8BEF106B7A1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10808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2CE5C-CA33-47F5-AB64-2B6A36D0DED0}" type="datetimeFigureOut">
              <a:rPr lang="it-IT" smtClean="0"/>
              <a:t>06/11/2025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1DE59-87EC-4745-B7EA-8BEF106B7A1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74944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2CE5C-CA33-47F5-AB64-2B6A36D0DED0}" type="datetimeFigureOut">
              <a:rPr lang="it-IT" smtClean="0"/>
              <a:t>06/11/2025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1DE59-87EC-4745-B7EA-8BEF106B7A1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81131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2CE5C-CA33-47F5-AB64-2B6A36D0DED0}" type="datetimeFigureOut">
              <a:rPr lang="it-IT" smtClean="0"/>
              <a:t>06/11/2025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1DE59-87EC-4745-B7EA-8BEF106B7A1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2322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2CE5C-CA33-47F5-AB64-2B6A36D0DED0}" type="datetimeFigureOut">
              <a:rPr lang="it-IT" smtClean="0"/>
              <a:t>06/11/2025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1DE59-87EC-4745-B7EA-8BEF106B7A1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58319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2CE5C-CA33-47F5-AB64-2B6A36D0DED0}" type="datetimeFigureOut">
              <a:rPr lang="it-IT" smtClean="0"/>
              <a:t>06/11/2025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1DE59-87EC-4745-B7EA-8BEF106B7A1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825884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yout cartell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9773D91B-7481-0FFA-7B61-8D2D95BD9959}"/>
              </a:ext>
            </a:extLst>
          </p:cNvPr>
          <p:cNvSpPr/>
          <p:nvPr userDrawn="1"/>
        </p:nvSpPr>
        <p:spPr>
          <a:xfrm>
            <a:off x="79899" y="88777"/>
            <a:ext cx="9738804" cy="6684885"/>
          </a:xfrm>
          <a:prstGeom prst="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7763" u="sn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78945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81" indent="0" algn="ctr">
              <a:buNone/>
              <a:defRPr sz="1125"/>
            </a:lvl2pPr>
            <a:lvl3pPr marL="514362" indent="0" algn="ctr">
              <a:buNone/>
              <a:defRPr sz="1013"/>
            </a:lvl3pPr>
            <a:lvl4pPr marL="771545" indent="0" algn="ctr">
              <a:buNone/>
              <a:defRPr sz="900"/>
            </a:lvl4pPr>
            <a:lvl5pPr marL="1028726" indent="0" algn="ctr">
              <a:buNone/>
              <a:defRPr sz="900"/>
            </a:lvl5pPr>
            <a:lvl6pPr marL="1285907" indent="0" algn="ctr">
              <a:buNone/>
              <a:defRPr sz="900"/>
            </a:lvl6pPr>
            <a:lvl7pPr marL="1543088" indent="0" algn="ctr">
              <a:buNone/>
              <a:defRPr sz="900"/>
            </a:lvl7pPr>
            <a:lvl8pPr marL="1800271" indent="0" algn="ctr">
              <a:buNone/>
              <a:defRPr sz="900"/>
            </a:lvl8pPr>
            <a:lvl9pPr marL="2057452" indent="0" algn="ctr">
              <a:buNone/>
              <a:defRPr sz="9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2CE5C-CA33-47F5-AB64-2B6A36D0DED0}" type="datetimeFigureOut">
              <a:rPr lang="it-IT" smtClean="0"/>
              <a:t>06/11/2025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1DE59-87EC-4745-B7EA-8BEF106B7A1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90230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82CE5C-CA33-47F5-AB64-2B6A36D0DED0}" type="datetimeFigureOut">
              <a:rPr lang="it-IT" smtClean="0"/>
              <a:t>06/11/2025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31DE59-87EC-4745-B7EA-8BEF106B7A1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10771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69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E4F3A18E-C1DF-F468-4FA4-101239466A89}"/>
              </a:ext>
            </a:extLst>
          </p:cNvPr>
          <p:cNvSpPr txBox="1"/>
          <p:nvPr/>
        </p:nvSpPr>
        <p:spPr>
          <a:xfrm>
            <a:off x="338137" y="3075057"/>
            <a:ext cx="92297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/>
              <a:t>Connessione gestionale-produzione</a:t>
            </a:r>
          </a:p>
        </p:txBody>
      </p:sp>
    </p:spTree>
    <p:extLst>
      <p:ext uri="{BB962C8B-B14F-4D97-AF65-F5344CB8AC3E}">
        <p14:creationId xmlns:p14="http://schemas.microsoft.com/office/powerpoint/2010/main" val="936682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38CB4-82F8-6E1B-C73D-18640373D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DADA6F1E-3A74-A0BC-95A7-18ECFCB927D8}"/>
              </a:ext>
            </a:extLst>
          </p:cNvPr>
          <p:cNvSpPr txBox="1"/>
          <p:nvPr/>
        </p:nvSpPr>
        <p:spPr>
          <a:xfrm>
            <a:off x="319086" y="1443841"/>
            <a:ext cx="895350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/>
              <a:t>Problematiche riscontrate</a:t>
            </a:r>
            <a:r>
              <a:rPr lang="it-IT" sz="2800" dirty="0"/>
              <a:t>:</a:t>
            </a:r>
          </a:p>
          <a:p>
            <a:endParaRPr lang="it-IT" sz="2800" dirty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it-IT" sz="2800" dirty="0"/>
              <a:t>Avanzamenti di produzione manuali e non aggiornati in tempo reale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endParaRPr lang="it-IT" sz="2800" dirty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it-IT" sz="2800" dirty="0"/>
              <a:t>Processo di accettazione non tracciato a gestionale e poco adatto alla produzione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endParaRPr lang="it-IT" sz="2800" dirty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it-IT" sz="2800" dirty="0"/>
              <a:t>Gestione degli scarti con note a magazzino e rischio elevato di errori da parte dell’utente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BA24504-6F37-720A-1000-5B6056ED92E9}"/>
              </a:ext>
            </a:extLst>
          </p:cNvPr>
          <p:cNvSpPr txBox="1"/>
          <p:nvPr/>
        </p:nvSpPr>
        <p:spPr>
          <a:xfrm>
            <a:off x="180975" y="247650"/>
            <a:ext cx="92297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/>
              <a:t>Connessione gestionale-produzione</a:t>
            </a:r>
          </a:p>
        </p:txBody>
      </p:sp>
    </p:spTree>
    <p:extLst>
      <p:ext uri="{BB962C8B-B14F-4D97-AF65-F5344CB8AC3E}">
        <p14:creationId xmlns:p14="http://schemas.microsoft.com/office/powerpoint/2010/main" val="4042358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ABEEE903-1945-697C-5FF9-CE821BCC19D0}"/>
              </a:ext>
            </a:extLst>
          </p:cNvPr>
          <p:cNvSpPr txBox="1"/>
          <p:nvPr/>
        </p:nvSpPr>
        <p:spPr>
          <a:xfrm>
            <a:off x="319086" y="2305615"/>
            <a:ext cx="895350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/>
              <a:t>Obiettivi</a:t>
            </a:r>
            <a:r>
              <a:rPr lang="it-IT" sz="2800" dirty="0"/>
              <a:t>:</a:t>
            </a:r>
          </a:p>
          <a:p>
            <a:endParaRPr lang="it-IT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dirty="0"/>
              <a:t>Ridurre le tempistiche di compilazione del gestionale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it-IT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dirty="0"/>
              <a:t>Snellire le schermata limitando le operazioni utente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it-IT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dirty="0"/>
              <a:t>Inserire la produzione come elemento attivo del gestionale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B7B195C-18E5-56FD-9500-9AF092829BB5}"/>
              </a:ext>
            </a:extLst>
          </p:cNvPr>
          <p:cNvSpPr txBox="1"/>
          <p:nvPr/>
        </p:nvSpPr>
        <p:spPr>
          <a:xfrm>
            <a:off x="180975" y="247650"/>
            <a:ext cx="92297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/>
              <a:t>Connessione gestionale-produzione</a:t>
            </a:r>
          </a:p>
        </p:txBody>
      </p:sp>
    </p:spTree>
    <p:extLst>
      <p:ext uri="{BB962C8B-B14F-4D97-AF65-F5344CB8AC3E}">
        <p14:creationId xmlns:p14="http://schemas.microsoft.com/office/powerpoint/2010/main" val="4150526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B27AD-6720-EEE4-3A51-DB7F2A663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39E4A56A-0828-AE2E-DF7F-CD39DBCCC767}"/>
              </a:ext>
            </a:extLst>
          </p:cNvPr>
          <p:cNvSpPr txBox="1"/>
          <p:nvPr/>
        </p:nvSpPr>
        <p:spPr>
          <a:xfrm>
            <a:off x="319086" y="1874728"/>
            <a:ext cx="895350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/>
              <a:t>Soluzioni</a:t>
            </a:r>
            <a:r>
              <a:rPr lang="it-IT" sz="2800" dirty="0"/>
              <a:t>:</a:t>
            </a:r>
          </a:p>
          <a:p>
            <a:endParaRPr lang="it-IT" sz="2800" dirty="0"/>
          </a:p>
          <a:p>
            <a:pPr marL="514350" indent="-514350">
              <a:buFont typeface="+mj-lt"/>
              <a:buAutoNum type="arabicPeriod"/>
            </a:pPr>
            <a:r>
              <a:rPr lang="it-IT" sz="2800" dirty="0"/>
              <a:t>Avanzamenti di produzione automatici</a:t>
            </a:r>
          </a:p>
          <a:p>
            <a:pPr marL="514350" indent="-514350">
              <a:buFont typeface="+mj-lt"/>
              <a:buAutoNum type="arabicPeriod"/>
            </a:pPr>
            <a:endParaRPr lang="it-IT" sz="2800" dirty="0"/>
          </a:p>
          <a:p>
            <a:pPr marL="514350" indent="-514350">
              <a:buFont typeface="+mj-lt"/>
              <a:buAutoNum type="arabicPeriod"/>
            </a:pPr>
            <a:r>
              <a:rPr lang="it-IT" sz="2800" dirty="0"/>
              <a:t>Miglioramento del processo di accettazione materiale</a:t>
            </a:r>
          </a:p>
          <a:p>
            <a:pPr marL="514350" indent="-514350">
              <a:buFont typeface="+mj-lt"/>
              <a:buAutoNum type="arabicPeriod"/>
            </a:pPr>
            <a:endParaRPr lang="it-IT" sz="2800" dirty="0"/>
          </a:p>
          <a:p>
            <a:pPr marL="514350" indent="-514350">
              <a:buFont typeface="+mj-lt"/>
              <a:buAutoNum type="arabicPeriod"/>
            </a:pPr>
            <a:r>
              <a:rPr lang="it-IT" sz="2800" dirty="0"/>
              <a:t>Gestione degli scarti automatica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DB7D87D-03AF-79BA-0641-9D2FD9C5AB04}"/>
              </a:ext>
            </a:extLst>
          </p:cNvPr>
          <p:cNvSpPr txBox="1"/>
          <p:nvPr/>
        </p:nvSpPr>
        <p:spPr>
          <a:xfrm>
            <a:off x="180975" y="247650"/>
            <a:ext cx="92297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/>
              <a:t>Connessione gestionale-produzione</a:t>
            </a:r>
          </a:p>
        </p:txBody>
      </p:sp>
    </p:spTree>
    <p:extLst>
      <p:ext uri="{BB962C8B-B14F-4D97-AF65-F5344CB8AC3E}">
        <p14:creationId xmlns:p14="http://schemas.microsoft.com/office/powerpoint/2010/main" val="3879802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id="{254B08FA-ACD1-5D46-542B-0B7923661C70}"/>
              </a:ext>
            </a:extLst>
          </p:cNvPr>
          <p:cNvSpPr txBox="1"/>
          <p:nvPr/>
        </p:nvSpPr>
        <p:spPr>
          <a:xfrm>
            <a:off x="338136" y="2013079"/>
            <a:ext cx="92297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/>
              <a:t>Attuazione per le soluzioni trovate:</a:t>
            </a:r>
          </a:p>
          <a:p>
            <a:endParaRPr lang="it-IT" sz="28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800" dirty="0"/>
              <a:t>Gestione delle informazioni tramite applicativo esterno</a:t>
            </a:r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F6DFC350-2242-8537-61D7-BDEAAC170528}"/>
              </a:ext>
            </a:extLst>
          </p:cNvPr>
          <p:cNvGrpSpPr/>
          <p:nvPr/>
        </p:nvGrpSpPr>
        <p:grpSpPr>
          <a:xfrm>
            <a:off x="881062" y="4455617"/>
            <a:ext cx="8143875" cy="1957090"/>
            <a:chOff x="685799" y="4300775"/>
            <a:chExt cx="8143875" cy="1957090"/>
          </a:xfrm>
        </p:grpSpPr>
        <p:grpSp>
          <p:nvGrpSpPr>
            <p:cNvPr id="8" name="Gruppo 7">
              <a:extLst>
                <a:ext uri="{FF2B5EF4-FFF2-40B4-BE49-F238E27FC236}">
                  <a16:creationId xmlns:a16="http://schemas.microsoft.com/office/drawing/2014/main" id="{CE4DA912-6E99-ED06-E0AE-094FE449B2F3}"/>
                </a:ext>
              </a:extLst>
            </p:cNvPr>
            <p:cNvGrpSpPr/>
            <p:nvPr/>
          </p:nvGrpSpPr>
          <p:grpSpPr>
            <a:xfrm>
              <a:off x="7334249" y="4300775"/>
              <a:ext cx="1495425" cy="1957090"/>
              <a:chOff x="533399" y="4148375"/>
              <a:chExt cx="1495425" cy="1957090"/>
            </a:xfrm>
          </p:grpSpPr>
          <p:pic>
            <p:nvPicPr>
              <p:cNvPr id="4" name="Elemento grafico 3" descr="Database con riempimento a tinta unita">
                <a:extLst>
                  <a:ext uri="{FF2B5EF4-FFF2-40B4-BE49-F238E27FC236}">
                    <a16:creationId xmlns:a16="http://schemas.microsoft.com/office/drawing/2014/main" id="{F11388F7-71BF-0F14-AC62-E0C7DD7086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33399" y="4610040"/>
                <a:ext cx="1495425" cy="1495425"/>
              </a:xfrm>
              <a:prstGeom prst="rect">
                <a:avLst/>
              </a:prstGeom>
            </p:spPr>
          </p:pic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5FC6D04E-31FE-EB85-75DE-E73A6132259E}"/>
                  </a:ext>
                </a:extLst>
              </p:cNvPr>
              <p:cNvSpPr txBox="1"/>
              <p:nvPr/>
            </p:nvSpPr>
            <p:spPr>
              <a:xfrm>
                <a:off x="609599" y="4148375"/>
                <a:ext cx="13430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2400" dirty="0"/>
                  <a:t>E-solver</a:t>
                </a:r>
              </a:p>
            </p:txBody>
          </p:sp>
        </p:grpSp>
        <p:grpSp>
          <p:nvGrpSpPr>
            <p:cNvPr id="9" name="Gruppo 8">
              <a:extLst>
                <a:ext uri="{FF2B5EF4-FFF2-40B4-BE49-F238E27FC236}">
                  <a16:creationId xmlns:a16="http://schemas.microsoft.com/office/drawing/2014/main" id="{5CF23F68-3098-284A-CFDE-153A7DE6D367}"/>
                </a:ext>
              </a:extLst>
            </p:cNvPr>
            <p:cNvGrpSpPr/>
            <p:nvPr/>
          </p:nvGrpSpPr>
          <p:grpSpPr>
            <a:xfrm>
              <a:off x="685799" y="4300775"/>
              <a:ext cx="1495425" cy="1957090"/>
              <a:chOff x="533399" y="4148375"/>
              <a:chExt cx="1495425" cy="1957090"/>
            </a:xfrm>
          </p:grpSpPr>
          <p:pic>
            <p:nvPicPr>
              <p:cNvPr id="10" name="Elemento grafico 9" descr="Database con riempimento a tinta unita">
                <a:extLst>
                  <a:ext uri="{FF2B5EF4-FFF2-40B4-BE49-F238E27FC236}">
                    <a16:creationId xmlns:a16="http://schemas.microsoft.com/office/drawing/2014/main" id="{FECC2AB6-A86D-65AB-25CF-AED6AC192E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33399" y="4610040"/>
                <a:ext cx="1495425" cy="1495425"/>
              </a:xfrm>
              <a:prstGeom prst="rect">
                <a:avLst/>
              </a:prstGeom>
            </p:spPr>
          </p:pic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032382A3-927B-1148-909F-278B89E6C990}"/>
                  </a:ext>
                </a:extLst>
              </p:cNvPr>
              <p:cNvSpPr txBox="1"/>
              <p:nvPr/>
            </p:nvSpPr>
            <p:spPr>
              <a:xfrm>
                <a:off x="609599" y="4148375"/>
                <a:ext cx="13430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2400" dirty="0"/>
                  <a:t>E-solver</a:t>
                </a:r>
              </a:p>
            </p:txBody>
          </p:sp>
        </p:grpSp>
        <p:sp>
          <p:nvSpPr>
            <p:cNvPr id="12" name="Freccia a destra 11">
              <a:extLst>
                <a:ext uri="{FF2B5EF4-FFF2-40B4-BE49-F238E27FC236}">
                  <a16:creationId xmlns:a16="http://schemas.microsoft.com/office/drawing/2014/main" id="{771AFC98-770D-DDB1-65A1-E3EAB1322376}"/>
                </a:ext>
              </a:extLst>
            </p:cNvPr>
            <p:cNvSpPr/>
            <p:nvPr/>
          </p:nvSpPr>
          <p:spPr>
            <a:xfrm>
              <a:off x="2105024" y="5336023"/>
              <a:ext cx="942976" cy="348258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3" name="Freccia a destra 12">
              <a:extLst>
                <a:ext uri="{FF2B5EF4-FFF2-40B4-BE49-F238E27FC236}">
                  <a16:creationId xmlns:a16="http://schemas.microsoft.com/office/drawing/2014/main" id="{E77F4986-D7C4-D955-8736-98BD71F2ED3D}"/>
                </a:ext>
              </a:extLst>
            </p:cNvPr>
            <p:cNvSpPr/>
            <p:nvPr/>
          </p:nvSpPr>
          <p:spPr>
            <a:xfrm>
              <a:off x="6543673" y="5336023"/>
              <a:ext cx="942976" cy="348258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4" name="CasellaDiTesto 13">
              <a:extLst>
                <a:ext uri="{FF2B5EF4-FFF2-40B4-BE49-F238E27FC236}">
                  <a16:creationId xmlns:a16="http://schemas.microsoft.com/office/drawing/2014/main" id="{519FED8E-B81F-CC1A-0E25-EF33F4B3D971}"/>
                </a:ext>
              </a:extLst>
            </p:cNvPr>
            <p:cNvSpPr txBox="1"/>
            <p:nvPr/>
          </p:nvSpPr>
          <p:spPr>
            <a:xfrm>
              <a:off x="3567110" y="5094654"/>
              <a:ext cx="2381252" cy="830997"/>
            </a:xfrm>
            <a:prstGeom prst="rect">
              <a:avLst/>
            </a:prstGeom>
            <a:ln w="571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it-IT" sz="2400" dirty="0"/>
                <a:t>Programma esterno</a:t>
              </a:r>
            </a:p>
          </p:txBody>
        </p:sp>
      </p:grp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0F6555F-7367-16CB-F075-28FF0CFE7B6F}"/>
              </a:ext>
            </a:extLst>
          </p:cNvPr>
          <p:cNvSpPr txBox="1"/>
          <p:nvPr/>
        </p:nvSpPr>
        <p:spPr>
          <a:xfrm>
            <a:off x="180975" y="247650"/>
            <a:ext cx="92297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/>
              <a:t>Connessione gestionale-produzione</a:t>
            </a:r>
          </a:p>
        </p:txBody>
      </p:sp>
    </p:spTree>
    <p:extLst>
      <p:ext uri="{BB962C8B-B14F-4D97-AF65-F5344CB8AC3E}">
        <p14:creationId xmlns:p14="http://schemas.microsoft.com/office/powerpoint/2010/main" val="4016230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A687B-2121-6AD2-CF9B-23D9A31A3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45C8EEBB-5B38-32D3-2355-89B45568723A}"/>
              </a:ext>
            </a:extLst>
          </p:cNvPr>
          <p:cNvSpPr txBox="1"/>
          <p:nvPr/>
        </p:nvSpPr>
        <p:spPr>
          <a:xfrm>
            <a:off x="180975" y="247650"/>
            <a:ext cx="92297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/>
              <a:t>Accettazione materiale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2374E5C0-2CDA-0CB8-241F-90C157AA7BB3}"/>
              </a:ext>
            </a:extLst>
          </p:cNvPr>
          <p:cNvSpPr/>
          <p:nvPr/>
        </p:nvSpPr>
        <p:spPr>
          <a:xfrm>
            <a:off x="238125" y="1331981"/>
            <a:ext cx="3048000" cy="7078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Caricamento del materiale da DDT su E-solver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25DFE8EF-5E8E-07BA-5A04-9A4D9BDA8F00}"/>
              </a:ext>
            </a:extLst>
          </p:cNvPr>
          <p:cNvSpPr/>
          <p:nvPr/>
        </p:nvSpPr>
        <p:spPr>
          <a:xfrm>
            <a:off x="3648077" y="1331981"/>
            <a:ext cx="3048000" cy="7078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Sistema per la comunicazione esterna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50A3BEEF-F98A-ADA7-CD39-8E81E9BF87B6}"/>
              </a:ext>
            </a:extLst>
          </p:cNvPr>
          <p:cNvSpPr/>
          <p:nvPr/>
        </p:nvSpPr>
        <p:spPr>
          <a:xfrm>
            <a:off x="3648077" y="3310040"/>
            <a:ext cx="3048000" cy="7078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Applicativo esterno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707AD658-7766-821B-2C85-F203036591B0}"/>
              </a:ext>
            </a:extLst>
          </p:cNvPr>
          <p:cNvSpPr/>
          <p:nvPr/>
        </p:nvSpPr>
        <p:spPr>
          <a:xfrm>
            <a:off x="3648077" y="5288099"/>
            <a:ext cx="3048000" cy="7078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Sistema per la comunicazione interna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7B12101B-30FC-25CA-6746-512D03D3692D}"/>
              </a:ext>
            </a:extLst>
          </p:cNvPr>
          <p:cNvSpPr/>
          <p:nvPr/>
        </p:nvSpPr>
        <p:spPr>
          <a:xfrm>
            <a:off x="238125" y="3310041"/>
            <a:ext cx="2705100" cy="7078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Applicativo Python con </a:t>
            </a:r>
            <a:r>
              <a:rPr lang="it-IT" dirty="0" err="1">
                <a:solidFill>
                  <a:schemeClr val="tx1"/>
                </a:solidFill>
              </a:rPr>
              <a:t>Flask</a:t>
            </a:r>
            <a:endParaRPr lang="it-IT" dirty="0">
              <a:solidFill>
                <a:schemeClr val="tx1"/>
              </a:solidFill>
            </a:endParaRPr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95FBF85C-1608-F0AF-24CB-1C9F53E118C5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5172077" y="2039867"/>
            <a:ext cx="0" cy="12701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C229F8E0-7CDF-367C-A3FC-1BBC0C1010AE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5172077" y="4017926"/>
            <a:ext cx="0" cy="12701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0EAC52F2-7990-4302-0047-0B57E5C76C64}"/>
              </a:ext>
            </a:extLst>
          </p:cNvPr>
          <p:cNvCxnSpPr>
            <a:cxnSpLocks/>
            <a:stCxn id="7" idx="1"/>
            <a:endCxn id="9" idx="3"/>
          </p:cNvCxnSpPr>
          <p:nvPr/>
        </p:nvCxnSpPr>
        <p:spPr>
          <a:xfrm flipH="1">
            <a:off x="2943225" y="3663983"/>
            <a:ext cx="70485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ttangolo 15">
            <a:extLst>
              <a:ext uri="{FF2B5EF4-FFF2-40B4-BE49-F238E27FC236}">
                <a16:creationId xmlns:a16="http://schemas.microsoft.com/office/drawing/2014/main" id="{B15B4BB9-1364-9197-53D8-240F6A77D635}"/>
              </a:ext>
            </a:extLst>
          </p:cNvPr>
          <p:cNvSpPr/>
          <p:nvPr/>
        </p:nvSpPr>
        <p:spPr>
          <a:xfrm>
            <a:off x="180975" y="1192982"/>
            <a:ext cx="6600825" cy="989499"/>
          </a:xfrm>
          <a:prstGeom prst="rect">
            <a:avLst/>
          </a:prstGeom>
          <a:noFill/>
          <a:ln w="28575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41B59B88-DF09-BB4C-8F3A-3DCAD5F69451}"/>
              </a:ext>
            </a:extLst>
          </p:cNvPr>
          <p:cNvSpPr txBox="1"/>
          <p:nvPr/>
        </p:nvSpPr>
        <p:spPr>
          <a:xfrm>
            <a:off x="5781675" y="854146"/>
            <a:ext cx="1000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Sistemi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7A089352-D062-7E4A-6B57-F65A0126D669}"/>
              </a:ext>
            </a:extLst>
          </p:cNvPr>
          <p:cNvSpPr/>
          <p:nvPr/>
        </p:nvSpPr>
        <p:spPr>
          <a:xfrm>
            <a:off x="180974" y="3181350"/>
            <a:ext cx="6600825" cy="948442"/>
          </a:xfrm>
          <a:prstGeom prst="rect">
            <a:avLst/>
          </a:prstGeom>
          <a:noFill/>
          <a:ln w="28575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A20E1310-C661-C8A3-83C1-5CA43B71538C}"/>
              </a:ext>
            </a:extLst>
          </p:cNvPr>
          <p:cNvSpPr txBox="1"/>
          <p:nvPr/>
        </p:nvSpPr>
        <p:spPr>
          <a:xfrm>
            <a:off x="5781675" y="2812018"/>
            <a:ext cx="116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Bernardi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2CE7156D-AA40-F0B3-30A9-6770DCDCBC30}"/>
              </a:ext>
            </a:extLst>
          </p:cNvPr>
          <p:cNvSpPr/>
          <p:nvPr/>
        </p:nvSpPr>
        <p:spPr>
          <a:xfrm>
            <a:off x="3571875" y="5128660"/>
            <a:ext cx="6091236" cy="984945"/>
          </a:xfrm>
          <a:prstGeom prst="rect">
            <a:avLst/>
          </a:prstGeom>
          <a:noFill/>
          <a:ln w="28575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092085E3-9F12-0C79-B2EC-6B61A6882226}"/>
              </a:ext>
            </a:extLst>
          </p:cNvPr>
          <p:cNvSpPr/>
          <p:nvPr/>
        </p:nvSpPr>
        <p:spPr>
          <a:xfrm>
            <a:off x="7162804" y="5288099"/>
            <a:ext cx="2419350" cy="7078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E-solver</a:t>
            </a:r>
          </a:p>
        </p:txBody>
      </p: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51D81730-F81E-EA03-08CA-D1ADCB51A8EB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286125" y="1685924"/>
            <a:ext cx="3619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0066C3A6-9C96-F732-90F3-BA3458509951}"/>
              </a:ext>
            </a:extLst>
          </p:cNvPr>
          <p:cNvCxnSpPr>
            <a:stCxn id="8" idx="3"/>
            <a:endCxn id="23" idx="1"/>
          </p:cNvCxnSpPr>
          <p:nvPr/>
        </p:nvCxnSpPr>
        <p:spPr>
          <a:xfrm>
            <a:off x="6696077" y="5642042"/>
            <a:ext cx="4667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3039719A-2D7E-1E97-327B-922549411835}"/>
              </a:ext>
            </a:extLst>
          </p:cNvPr>
          <p:cNvSpPr txBox="1"/>
          <p:nvPr/>
        </p:nvSpPr>
        <p:spPr>
          <a:xfrm>
            <a:off x="3409952" y="4801147"/>
            <a:ext cx="1000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Sistemi</a:t>
            </a:r>
          </a:p>
        </p:txBody>
      </p:sp>
      <p:sp>
        <p:nvSpPr>
          <p:cNvPr id="29" name="Callout: linea 28">
            <a:extLst>
              <a:ext uri="{FF2B5EF4-FFF2-40B4-BE49-F238E27FC236}">
                <a16:creationId xmlns:a16="http://schemas.microsoft.com/office/drawing/2014/main" id="{7B9E95F5-9547-0708-C175-140CB73F065C}"/>
              </a:ext>
            </a:extLst>
          </p:cNvPr>
          <p:cNvSpPr/>
          <p:nvPr/>
        </p:nvSpPr>
        <p:spPr>
          <a:xfrm>
            <a:off x="7162804" y="2182481"/>
            <a:ext cx="2500307" cy="984944"/>
          </a:xfrm>
          <a:prstGeom prst="borderCallout1">
            <a:avLst>
              <a:gd name="adj1" fmla="val 50663"/>
              <a:gd name="adj2" fmla="val -2050"/>
              <a:gd name="adj3" fmla="val 54476"/>
              <a:gd name="adj4" fmla="val -7958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Fornitore, codice, quantità, scheda di controllo</a:t>
            </a:r>
          </a:p>
        </p:txBody>
      </p:sp>
      <p:sp>
        <p:nvSpPr>
          <p:cNvPr id="30" name="Callout: linea 29">
            <a:extLst>
              <a:ext uri="{FF2B5EF4-FFF2-40B4-BE49-F238E27FC236}">
                <a16:creationId xmlns:a16="http://schemas.microsoft.com/office/drawing/2014/main" id="{EDA6B784-DFDB-E5B1-F675-5025C1E984F0}"/>
              </a:ext>
            </a:extLst>
          </p:cNvPr>
          <p:cNvSpPr/>
          <p:nvPr/>
        </p:nvSpPr>
        <p:spPr>
          <a:xfrm>
            <a:off x="7162803" y="3690576"/>
            <a:ext cx="2500307" cy="1243581"/>
          </a:xfrm>
          <a:prstGeom prst="borderCallout1">
            <a:avLst>
              <a:gd name="adj1" fmla="val 50663"/>
              <a:gd name="adj2" fmla="val -2050"/>
              <a:gd name="adj3" fmla="val 54476"/>
              <a:gd name="adj4" fmla="val -7958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Fornitore, codice, quantità, scheda di controllo compilata, lotto</a:t>
            </a:r>
          </a:p>
        </p:txBody>
      </p:sp>
    </p:spTree>
    <p:extLst>
      <p:ext uri="{BB962C8B-B14F-4D97-AF65-F5344CB8AC3E}">
        <p14:creationId xmlns:p14="http://schemas.microsoft.com/office/powerpoint/2010/main" val="1764908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e 2">
            <a:extLst>
              <a:ext uri="{FF2B5EF4-FFF2-40B4-BE49-F238E27FC236}">
                <a16:creationId xmlns:a16="http://schemas.microsoft.com/office/drawing/2014/main" id="{151D431B-D8B5-E3B8-7A01-D4BB81F56A7B}"/>
              </a:ext>
            </a:extLst>
          </p:cNvPr>
          <p:cNvSpPr/>
          <p:nvPr/>
        </p:nvSpPr>
        <p:spPr>
          <a:xfrm>
            <a:off x="4314117" y="161528"/>
            <a:ext cx="1288481" cy="3709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dirty="0"/>
              <a:t>Start</a:t>
            </a:r>
            <a:endParaRPr lang="it-IT" sz="1013" dirty="0"/>
          </a:p>
        </p:txBody>
      </p:sp>
      <p:sp>
        <p:nvSpPr>
          <p:cNvPr id="4" name="Decisione 3">
            <a:extLst>
              <a:ext uri="{FF2B5EF4-FFF2-40B4-BE49-F238E27FC236}">
                <a16:creationId xmlns:a16="http://schemas.microsoft.com/office/drawing/2014/main" id="{96C1EBEA-5E0C-3A62-8103-DD1E2D00287A}"/>
              </a:ext>
            </a:extLst>
          </p:cNvPr>
          <p:cNvSpPr/>
          <p:nvPr/>
        </p:nvSpPr>
        <p:spPr>
          <a:xfrm>
            <a:off x="3002915" y="1983016"/>
            <a:ext cx="3913441" cy="777539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dirty="0"/>
              <a:t>Freepass</a:t>
            </a:r>
          </a:p>
        </p:txBody>
      </p:sp>
      <p:sp>
        <p:nvSpPr>
          <p:cNvPr id="5" name="Dati 4">
            <a:extLst>
              <a:ext uri="{FF2B5EF4-FFF2-40B4-BE49-F238E27FC236}">
                <a16:creationId xmlns:a16="http://schemas.microsoft.com/office/drawing/2014/main" id="{1DE18C68-B450-CFBB-D2A9-F421901C06AB}"/>
              </a:ext>
            </a:extLst>
          </p:cNvPr>
          <p:cNvSpPr/>
          <p:nvPr/>
        </p:nvSpPr>
        <p:spPr>
          <a:xfrm>
            <a:off x="3572205" y="934857"/>
            <a:ext cx="2772306" cy="759277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dirty="0"/>
              <a:t>Materiale in ingresso</a:t>
            </a:r>
          </a:p>
        </p:txBody>
      </p:sp>
      <p:sp>
        <p:nvSpPr>
          <p:cNvPr id="6" name="Elaborazione 5">
            <a:extLst>
              <a:ext uri="{FF2B5EF4-FFF2-40B4-BE49-F238E27FC236}">
                <a16:creationId xmlns:a16="http://schemas.microsoft.com/office/drawing/2014/main" id="{0F27D270-6CBD-625D-5402-F14F06EBBE1C}"/>
              </a:ext>
            </a:extLst>
          </p:cNvPr>
          <p:cNvSpPr/>
          <p:nvPr/>
        </p:nvSpPr>
        <p:spPr>
          <a:xfrm>
            <a:off x="7054699" y="2796174"/>
            <a:ext cx="2066436" cy="715806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dirty="0"/>
              <a:t>Magazzino accettazione</a:t>
            </a:r>
          </a:p>
        </p:txBody>
      </p:sp>
      <p:sp>
        <p:nvSpPr>
          <p:cNvPr id="7" name="Decisione 6">
            <a:extLst>
              <a:ext uri="{FF2B5EF4-FFF2-40B4-BE49-F238E27FC236}">
                <a16:creationId xmlns:a16="http://schemas.microsoft.com/office/drawing/2014/main" id="{658DB8D5-083D-C270-592C-DD57E0C70D79}"/>
              </a:ext>
            </a:extLst>
          </p:cNvPr>
          <p:cNvSpPr/>
          <p:nvPr/>
        </p:nvSpPr>
        <p:spPr>
          <a:xfrm>
            <a:off x="2992200" y="4004949"/>
            <a:ext cx="3913441" cy="777539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dirty="0"/>
              <a:t>Accettazione</a:t>
            </a:r>
          </a:p>
        </p:txBody>
      </p:sp>
      <p:sp>
        <p:nvSpPr>
          <p:cNvPr id="10" name="Dati 9">
            <a:extLst>
              <a:ext uri="{FF2B5EF4-FFF2-40B4-BE49-F238E27FC236}">
                <a16:creationId xmlns:a16="http://schemas.microsoft.com/office/drawing/2014/main" id="{94E10C05-4EE5-3173-2DCC-22CF1E027C6C}"/>
              </a:ext>
            </a:extLst>
          </p:cNvPr>
          <p:cNvSpPr/>
          <p:nvPr/>
        </p:nvSpPr>
        <p:spPr>
          <a:xfrm>
            <a:off x="6694619" y="5063773"/>
            <a:ext cx="2772306" cy="641117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dirty="0"/>
              <a:t>Magazzino scarti</a:t>
            </a:r>
          </a:p>
        </p:txBody>
      </p:sp>
      <p:sp>
        <p:nvSpPr>
          <p:cNvPr id="11" name="Dati 10">
            <a:extLst>
              <a:ext uri="{FF2B5EF4-FFF2-40B4-BE49-F238E27FC236}">
                <a16:creationId xmlns:a16="http://schemas.microsoft.com/office/drawing/2014/main" id="{DBAE2EB5-493B-BF6A-5105-152F6ADCBE8F}"/>
              </a:ext>
            </a:extLst>
          </p:cNvPr>
          <p:cNvSpPr/>
          <p:nvPr/>
        </p:nvSpPr>
        <p:spPr>
          <a:xfrm>
            <a:off x="387283" y="5063773"/>
            <a:ext cx="2772306" cy="641117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dirty="0"/>
              <a:t>Magazzino</a:t>
            </a:r>
          </a:p>
        </p:txBody>
      </p:sp>
      <p:sp>
        <p:nvSpPr>
          <p:cNvPr id="12" name="Dati 11">
            <a:extLst>
              <a:ext uri="{FF2B5EF4-FFF2-40B4-BE49-F238E27FC236}">
                <a16:creationId xmlns:a16="http://schemas.microsoft.com/office/drawing/2014/main" id="{023916E6-F861-3540-B010-444FBA27907D}"/>
              </a:ext>
            </a:extLst>
          </p:cNvPr>
          <p:cNvSpPr/>
          <p:nvPr/>
        </p:nvSpPr>
        <p:spPr>
          <a:xfrm>
            <a:off x="387283" y="2754086"/>
            <a:ext cx="2772306" cy="759277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dirty="0"/>
              <a:t>Magazzino</a:t>
            </a:r>
          </a:p>
        </p:txBody>
      </p:sp>
      <p:sp>
        <p:nvSpPr>
          <p:cNvPr id="13" name="Ovale 12">
            <a:extLst>
              <a:ext uri="{FF2B5EF4-FFF2-40B4-BE49-F238E27FC236}">
                <a16:creationId xmlns:a16="http://schemas.microsoft.com/office/drawing/2014/main" id="{4C0D9783-9335-791A-F600-18FE159E0EE5}"/>
              </a:ext>
            </a:extLst>
          </p:cNvPr>
          <p:cNvSpPr/>
          <p:nvPr/>
        </p:nvSpPr>
        <p:spPr>
          <a:xfrm>
            <a:off x="947241" y="3762734"/>
            <a:ext cx="1652388" cy="4480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dirty="0"/>
              <a:t>End</a:t>
            </a:r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B2785B0B-4B9E-4290-A899-238DEF05934B}"/>
              </a:ext>
            </a:extLst>
          </p:cNvPr>
          <p:cNvSpPr/>
          <p:nvPr/>
        </p:nvSpPr>
        <p:spPr>
          <a:xfrm>
            <a:off x="947241" y="6044595"/>
            <a:ext cx="1652388" cy="4480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dirty="0"/>
              <a:t>End</a:t>
            </a:r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67D2C4B3-9C31-99D7-5C62-28F8F584262C}"/>
              </a:ext>
            </a:extLst>
          </p:cNvPr>
          <p:cNvSpPr/>
          <p:nvPr/>
        </p:nvSpPr>
        <p:spPr>
          <a:xfrm>
            <a:off x="7254577" y="6061126"/>
            <a:ext cx="1652388" cy="4480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dirty="0"/>
              <a:t>End</a:t>
            </a: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F14A08D8-11BE-9288-A951-91349FDD3D7C}"/>
              </a:ext>
            </a:extLst>
          </p:cNvPr>
          <p:cNvCxnSpPr>
            <a:cxnSpLocks/>
            <a:stCxn id="12" idx="4"/>
            <a:endCxn id="13" idx="0"/>
          </p:cNvCxnSpPr>
          <p:nvPr/>
        </p:nvCxnSpPr>
        <p:spPr>
          <a:xfrm flipH="1">
            <a:off x="1773435" y="3513363"/>
            <a:ext cx="1" cy="24937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A2EA07F6-624B-A5AE-32E9-794B3ED31922}"/>
              </a:ext>
            </a:extLst>
          </p:cNvPr>
          <p:cNvCxnSpPr>
            <a:cxnSpLocks/>
            <a:stCxn id="11" idx="4"/>
            <a:endCxn id="14" idx="0"/>
          </p:cNvCxnSpPr>
          <p:nvPr/>
        </p:nvCxnSpPr>
        <p:spPr>
          <a:xfrm flipH="1">
            <a:off x="1773435" y="5704890"/>
            <a:ext cx="1" cy="33970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D94F0206-EAAB-6C09-D406-9D65D57740EA}"/>
              </a:ext>
            </a:extLst>
          </p:cNvPr>
          <p:cNvCxnSpPr>
            <a:cxnSpLocks/>
            <a:stCxn id="10" idx="4"/>
            <a:endCxn id="15" idx="0"/>
          </p:cNvCxnSpPr>
          <p:nvPr/>
        </p:nvCxnSpPr>
        <p:spPr>
          <a:xfrm flipH="1">
            <a:off x="8080771" y="5704890"/>
            <a:ext cx="1" cy="35623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E795B36C-9EB2-F1AE-F43A-E7F71088823A}"/>
              </a:ext>
            </a:extLst>
          </p:cNvPr>
          <p:cNvCxnSpPr>
            <a:cxnSpLocks/>
            <a:stCxn id="3" idx="4"/>
            <a:endCxn id="5" idx="1"/>
          </p:cNvCxnSpPr>
          <p:nvPr/>
        </p:nvCxnSpPr>
        <p:spPr>
          <a:xfrm>
            <a:off x="4958358" y="532433"/>
            <a:ext cx="0" cy="40242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26A92680-D4EF-F82A-251E-5A2F18008410}"/>
              </a:ext>
            </a:extLst>
          </p:cNvPr>
          <p:cNvCxnSpPr>
            <a:cxnSpLocks/>
            <a:stCxn id="5" idx="4"/>
            <a:endCxn id="4" idx="0"/>
          </p:cNvCxnSpPr>
          <p:nvPr/>
        </p:nvCxnSpPr>
        <p:spPr>
          <a:xfrm>
            <a:off x="4958358" y="1694134"/>
            <a:ext cx="1278" cy="28888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ttore a gomito 32">
            <a:extLst>
              <a:ext uri="{FF2B5EF4-FFF2-40B4-BE49-F238E27FC236}">
                <a16:creationId xmlns:a16="http://schemas.microsoft.com/office/drawing/2014/main" id="{50A5A31F-9A08-CE09-D408-8D32407E0C59}"/>
              </a:ext>
            </a:extLst>
          </p:cNvPr>
          <p:cNvCxnSpPr>
            <a:stCxn id="4" idx="1"/>
            <a:endCxn id="12" idx="1"/>
          </p:cNvCxnSpPr>
          <p:nvPr/>
        </p:nvCxnSpPr>
        <p:spPr>
          <a:xfrm rot="10800000" flipV="1">
            <a:off x="1773437" y="2371786"/>
            <a:ext cx="1229479" cy="382300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a gomito 34">
            <a:extLst>
              <a:ext uri="{FF2B5EF4-FFF2-40B4-BE49-F238E27FC236}">
                <a16:creationId xmlns:a16="http://schemas.microsoft.com/office/drawing/2014/main" id="{B423B178-5086-6EB2-B4A0-CD5173F089EF}"/>
              </a:ext>
            </a:extLst>
          </p:cNvPr>
          <p:cNvCxnSpPr>
            <a:stCxn id="4" idx="3"/>
            <a:endCxn id="6" idx="0"/>
          </p:cNvCxnSpPr>
          <p:nvPr/>
        </p:nvCxnSpPr>
        <p:spPr>
          <a:xfrm>
            <a:off x="6916356" y="2371786"/>
            <a:ext cx="1171561" cy="424388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ttore a gomito 36">
            <a:extLst>
              <a:ext uri="{FF2B5EF4-FFF2-40B4-BE49-F238E27FC236}">
                <a16:creationId xmlns:a16="http://schemas.microsoft.com/office/drawing/2014/main" id="{8434DC50-7831-02C6-DBB3-9F0A7EEB55F5}"/>
              </a:ext>
            </a:extLst>
          </p:cNvPr>
          <p:cNvCxnSpPr>
            <a:stCxn id="6" idx="2"/>
            <a:endCxn id="7" idx="0"/>
          </p:cNvCxnSpPr>
          <p:nvPr/>
        </p:nvCxnSpPr>
        <p:spPr>
          <a:xfrm rot="5400000">
            <a:off x="6271935" y="2188966"/>
            <a:ext cx="492969" cy="3138996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ttore a gomito 38">
            <a:extLst>
              <a:ext uri="{FF2B5EF4-FFF2-40B4-BE49-F238E27FC236}">
                <a16:creationId xmlns:a16="http://schemas.microsoft.com/office/drawing/2014/main" id="{6D2A8622-151D-22DC-42B5-2CCB30C6BD7F}"/>
              </a:ext>
            </a:extLst>
          </p:cNvPr>
          <p:cNvCxnSpPr>
            <a:stCxn id="7" idx="1"/>
            <a:endCxn id="11" idx="1"/>
          </p:cNvCxnSpPr>
          <p:nvPr/>
        </p:nvCxnSpPr>
        <p:spPr>
          <a:xfrm rot="10800000" flipV="1">
            <a:off x="1773436" y="4393719"/>
            <a:ext cx="1218764" cy="670054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ttore a gomito 40">
            <a:extLst>
              <a:ext uri="{FF2B5EF4-FFF2-40B4-BE49-F238E27FC236}">
                <a16:creationId xmlns:a16="http://schemas.microsoft.com/office/drawing/2014/main" id="{6178D830-239B-9528-8130-F12F6CB3EA15}"/>
              </a:ext>
            </a:extLst>
          </p:cNvPr>
          <p:cNvCxnSpPr>
            <a:stCxn id="7" idx="3"/>
            <a:endCxn id="10" idx="1"/>
          </p:cNvCxnSpPr>
          <p:nvPr/>
        </p:nvCxnSpPr>
        <p:spPr>
          <a:xfrm>
            <a:off x="6905641" y="4393719"/>
            <a:ext cx="1175131" cy="670054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F79FAF61-B23B-880E-E608-68B3E26BDAD4}"/>
              </a:ext>
            </a:extLst>
          </p:cNvPr>
          <p:cNvSpPr txBox="1"/>
          <p:nvPr/>
        </p:nvSpPr>
        <p:spPr>
          <a:xfrm>
            <a:off x="3556036" y="1793788"/>
            <a:ext cx="482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Si</a:t>
            </a: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4CE6D671-7ED2-1A14-49D6-318617651F7B}"/>
              </a:ext>
            </a:extLst>
          </p:cNvPr>
          <p:cNvSpPr txBox="1"/>
          <p:nvPr/>
        </p:nvSpPr>
        <p:spPr>
          <a:xfrm>
            <a:off x="5677488" y="1768373"/>
            <a:ext cx="667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No</a:t>
            </a:r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AC2AC84E-0969-E781-A5BB-4040BC2FE4EC}"/>
              </a:ext>
            </a:extLst>
          </p:cNvPr>
          <p:cNvSpPr txBox="1"/>
          <p:nvPr/>
        </p:nvSpPr>
        <p:spPr>
          <a:xfrm>
            <a:off x="164487" y="156619"/>
            <a:ext cx="34452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 dirty="0">
                <a:solidFill>
                  <a:prstClr val="black"/>
                </a:solidFill>
              </a:rPr>
              <a:t>Accettazione materiale</a:t>
            </a:r>
            <a:endParaRPr lang="it-IT" sz="3200" dirty="0"/>
          </a:p>
          <a:p>
            <a:r>
              <a:rPr lang="it-IT" sz="3200" b="1" dirty="0">
                <a:solidFill>
                  <a:prstClr val="black"/>
                </a:solidFill>
                <a:latin typeface="Aptos" panose="02110004020202020204"/>
              </a:rPr>
              <a:t>Flowchart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CE75148-846F-66EF-4D08-46AB6C880018}"/>
              </a:ext>
            </a:extLst>
          </p:cNvPr>
          <p:cNvSpPr txBox="1"/>
          <p:nvPr/>
        </p:nvSpPr>
        <p:spPr>
          <a:xfrm>
            <a:off x="7493206" y="695922"/>
            <a:ext cx="2066436" cy="1200329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it-IT" dirty="0"/>
              <a:t>Freepass: lista di componenti non controllati in accettazione</a:t>
            </a:r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79E83FC1-D910-3B19-311E-14CBF03D0214}"/>
              </a:ext>
            </a:extLst>
          </p:cNvPr>
          <p:cNvCxnSpPr>
            <a:cxnSpLocks/>
            <a:endCxn id="2" idx="1"/>
          </p:cNvCxnSpPr>
          <p:nvPr/>
        </p:nvCxnSpPr>
        <p:spPr>
          <a:xfrm flipV="1">
            <a:off x="6219825" y="1296087"/>
            <a:ext cx="1273381" cy="956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E71AA997-B603-C125-C993-87C7D47EFC29}"/>
              </a:ext>
            </a:extLst>
          </p:cNvPr>
          <p:cNvSpPr txBox="1"/>
          <p:nvPr/>
        </p:nvSpPr>
        <p:spPr>
          <a:xfrm>
            <a:off x="3556035" y="3832138"/>
            <a:ext cx="654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Ok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CA827775-A922-5E0D-CE42-78FF0EB5E38D}"/>
              </a:ext>
            </a:extLst>
          </p:cNvPr>
          <p:cNvSpPr txBox="1"/>
          <p:nvPr/>
        </p:nvSpPr>
        <p:spPr>
          <a:xfrm>
            <a:off x="5677488" y="3806723"/>
            <a:ext cx="667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Ko</a:t>
            </a:r>
          </a:p>
        </p:txBody>
      </p:sp>
    </p:spTree>
    <p:extLst>
      <p:ext uri="{BB962C8B-B14F-4D97-AF65-F5344CB8AC3E}">
        <p14:creationId xmlns:p14="http://schemas.microsoft.com/office/powerpoint/2010/main" val="901388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03B06-8FC2-82A8-73D3-C5563AF60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40D5E496-8C0F-49A4-4B8F-D7CDBFCA25F5}"/>
              </a:ext>
            </a:extLst>
          </p:cNvPr>
          <p:cNvSpPr txBox="1"/>
          <p:nvPr/>
        </p:nvSpPr>
        <p:spPr>
          <a:xfrm>
            <a:off x="180975" y="247650"/>
            <a:ext cx="92297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/>
              <a:t>Avanzamento di produzione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2B07526F-6826-8318-0D7D-8CF4AB7909F9}"/>
              </a:ext>
            </a:extLst>
          </p:cNvPr>
          <p:cNvSpPr/>
          <p:nvPr/>
        </p:nvSpPr>
        <p:spPr>
          <a:xfrm>
            <a:off x="238125" y="1331981"/>
            <a:ext cx="3048000" cy="7078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Caricamento dell’ODP </a:t>
            </a:r>
          </a:p>
          <a:p>
            <a:pPr algn="ctr"/>
            <a:r>
              <a:rPr lang="it-IT" dirty="0"/>
              <a:t>su E-solver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92E75AE2-80BF-43FD-DE21-FA50C77432E5}"/>
              </a:ext>
            </a:extLst>
          </p:cNvPr>
          <p:cNvSpPr/>
          <p:nvPr/>
        </p:nvSpPr>
        <p:spPr>
          <a:xfrm>
            <a:off x="3648077" y="1331981"/>
            <a:ext cx="3048000" cy="7078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Sistema per la comunicazione esterna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337A828F-E54B-BD90-E0AC-ACB59FD55081}"/>
              </a:ext>
            </a:extLst>
          </p:cNvPr>
          <p:cNvSpPr/>
          <p:nvPr/>
        </p:nvSpPr>
        <p:spPr>
          <a:xfrm>
            <a:off x="3648077" y="3310040"/>
            <a:ext cx="3048000" cy="7078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Applicativo esterno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D4C16DE2-2CC2-503E-7CB1-E2EC51A54460}"/>
              </a:ext>
            </a:extLst>
          </p:cNvPr>
          <p:cNvSpPr/>
          <p:nvPr/>
        </p:nvSpPr>
        <p:spPr>
          <a:xfrm>
            <a:off x="3648077" y="5764349"/>
            <a:ext cx="3048000" cy="7078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Sistema per la comunicazione interna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17C768FD-9358-2A4F-E67A-A44F03B1EF4B}"/>
              </a:ext>
            </a:extLst>
          </p:cNvPr>
          <p:cNvSpPr/>
          <p:nvPr/>
        </p:nvSpPr>
        <p:spPr>
          <a:xfrm>
            <a:off x="238125" y="3310041"/>
            <a:ext cx="2705100" cy="7078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Applicativo Python con </a:t>
            </a:r>
            <a:r>
              <a:rPr lang="it-IT" dirty="0" err="1">
                <a:solidFill>
                  <a:schemeClr val="tx1"/>
                </a:solidFill>
              </a:rPr>
              <a:t>Flask</a:t>
            </a:r>
            <a:endParaRPr lang="it-IT" dirty="0">
              <a:solidFill>
                <a:schemeClr val="tx1"/>
              </a:solidFill>
            </a:endParaRPr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B2490D20-6E22-B24D-75BD-29C7B6CA27B5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5172077" y="2039867"/>
            <a:ext cx="0" cy="12701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25DD485C-BEF3-EE39-2385-65B98147D0BD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5172077" y="4017926"/>
            <a:ext cx="0" cy="17464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992B5297-11E6-5B4C-79C9-B385F2A78155}"/>
              </a:ext>
            </a:extLst>
          </p:cNvPr>
          <p:cNvCxnSpPr>
            <a:cxnSpLocks/>
            <a:stCxn id="7" idx="1"/>
            <a:endCxn id="9" idx="3"/>
          </p:cNvCxnSpPr>
          <p:nvPr/>
        </p:nvCxnSpPr>
        <p:spPr>
          <a:xfrm flipH="1">
            <a:off x="2943225" y="3663983"/>
            <a:ext cx="70485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ttangolo 15">
            <a:extLst>
              <a:ext uri="{FF2B5EF4-FFF2-40B4-BE49-F238E27FC236}">
                <a16:creationId xmlns:a16="http://schemas.microsoft.com/office/drawing/2014/main" id="{A9849802-F069-0BC4-72C3-96529D713527}"/>
              </a:ext>
            </a:extLst>
          </p:cNvPr>
          <p:cNvSpPr/>
          <p:nvPr/>
        </p:nvSpPr>
        <p:spPr>
          <a:xfrm>
            <a:off x="180975" y="1192982"/>
            <a:ext cx="6600825" cy="989499"/>
          </a:xfrm>
          <a:prstGeom prst="rect">
            <a:avLst/>
          </a:prstGeom>
          <a:noFill/>
          <a:ln w="28575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571099B8-1809-4243-861F-9B86BB8A0EEF}"/>
              </a:ext>
            </a:extLst>
          </p:cNvPr>
          <p:cNvSpPr txBox="1"/>
          <p:nvPr/>
        </p:nvSpPr>
        <p:spPr>
          <a:xfrm>
            <a:off x="5876925" y="845029"/>
            <a:ext cx="1000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Sistemi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E8EDCF98-8C98-47B0-D1EA-D31CA5BBAA69}"/>
              </a:ext>
            </a:extLst>
          </p:cNvPr>
          <p:cNvSpPr/>
          <p:nvPr/>
        </p:nvSpPr>
        <p:spPr>
          <a:xfrm>
            <a:off x="180974" y="3181350"/>
            <a:ext cx="6600825" cy="948442"/>
          </a:xfrm>
          <a:prstGeom prst="rect">
            <a:avLst/>
          </a:prstGeom>
          <a:noFill/>
          <a:ln w="28575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6BB95D04-576B-ABFD-C466-6C6757FE31B9}"/>
              </a:ext>
            </a:extLst>
          </p:cNvPr>
          <p:cNvSpPr txBox="1"/>
          <p:nvPr/>
        </p:nvSpPr>
        <p:spPr>
          <a:xfrm>
            <a:off x="5619751" y="2781478"/>
            <a:ext cx="116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Bernardi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5A9D487B-2C0C-F364-D9F7-86F6B3556D7A}"/>
              </a:ext>
            </a:extLst>
          </p:cNvPr>
          <p:cNvSpPr/>
          <p:nvPr/>
        </p:nvSpPr>
        <p:spPr>
          <a:xfrm>
            <a:off x="3571875" y="5604910"/>
            <a:ext cx="6091236" cy="984945"/>
          </a:xfrm>
          <a:prstGeom prst="rect">
            <a:avLst/>
          </a:prstGeom>
          <a:noFill/>
          <a:ln w="28575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B5CD3719-608C-AD72-06CE-C9F0FD6BC85F}"/>
              </a:ext>
            </a:extLst>
          </p:cNvPr>
          <p:cNvSpPr/>
          <p:nvPr/>
        </p:nvSpPr>
        <p:spPr>
          <a:xfrm>
            <a:off x="7162804" y="5764349"/>
            <a:ext cx="2419350" cy="7078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E-solver</a:t>
            </a:r>
          </a:p>
        </p:txBody>
      </p: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25B183BB-CF09-E994-0DFA-E489E384E2F0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286125" y="1685924"/>
            <a:ext cx="3619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7D213299-F7DB-19F9-A389-861C20699198}"/>
              </a:ext>
            </a:extLst>
          </p:cNvPr>
          <p:cNvCxnSpPr>
            <a:stCxn id="8" idx="3"/>
            <a:endCxn id="23" idx="1"/>
          </p:cNvCxnSpPr>
          <p:nvPr/>
        </p:nvCxnSpPr>
        <p:spPr>
          <a:xfrm>
            <a:off x="6696077" y="6118292"/>
            <a:ext cx="4667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EF0CA551-7154-75AD-72AA-7FB4E5C0D33B}"/>
              </a:ext>
            </a:extLst>
          </p:cNvPr>
          <p:cNvSpPr txBox="1"/>
          <p:nvPr/>
        </p:nvSpPr>
        <p:spPr>
          <a:xfrm>
            <a:off x="3562352" y="5229089"/>
            <a:ext cx="1000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Sistemi</a:t>
            </a:r>
          </a:p>
        </p:txBody>
      </p:sp>
      <p:sp>
        <p:nvSpPr>
          <p:cNvPr id="29" name="Callout: linea 28">
            <a:extLst>
              <a:ext uri="{FF2B5EF4-FFF2-40B4-BE49-F238E27FC236}">
                <a16:creationId xmlns:a16="http://schemas.microsoft.com/office/drawing/2014/main" id="{A37D5B1F-7592-A13F-293C-FC1AB9379987}"/>
              </a:ext>
            </a:extLst>
          </p:cNvPr>
          <p:cNvSpPr/>
          <p:nvPr/>
        </p:nvSpPr>
        <p:spPr>
          <a:xfrm>
            <a:off x="7162804" y="2182481"/>
            <a:ext cx="2500307" cy="984944"/>
          </a:xfrm>
          <a:prstGeom prst="borderCallout1">
            <a:avLst>
              <a:gd name="adj1" fmla="val 50663"/>
              <a:gd name="adj2" fmla="val -2050"/>
              <a:gd name="adj3" fmla="val 54476"/>
              <a:gd name="adj4" fmla="val -7958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Codice, quantità, lavorazione, reparto, lotto</a:t>
            </a:r>
          </a:p>
        </p:txBody>
      </p:sp>
      <p:sp>
        <p:nvSpPr>
          <p:cNvPr id="30" name="Callout: linea 29">
            <a:extLst>
              <a:ext uri="{FF2B5EF4-FFF2-40B4-BE49-F238E27FC236}">
                <a16:creationId xmlns:a16="http://schemas.microsoft.com/office/drawing/2014/main" id="{85D9B03C-FEB9-F28E-D62B-BCB49A4EA933}"/>
              </a:ext>
            </a:extLst>
          </p:cNvPr>
          <p:cNvSpPr/>
          <p:nvPr/>
        </p:nvSpPr>
        <p:spPr>
          <a:xfrm>
            <a:off x="7162803" y="3521368"/>
            <a:ext cx="2500307" cy="1991535"/>
          </a:xfrm>
          <a:prstGeom prst="borderCallout1">
            <a:avLst>
              <a:gd name="adj1" fmla="val 50663"/>
              <a:gd name="adj2" fmla="val -2050"/>
              <a:gd name="adj3" fmla="val 54476"/>
              <a:gd name="adj4" fmla="val -7958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Codice, quantità, lavorazione, reparto, quantità prodotta, quantità di scarto, data inizio e fine lavorazione, lotto</a:t>
            </a:r>
          </a:p>
        </p:txBody>
      </p:sp>
    </p:spTree>
    <p:extLst>
      <p:ext uri="{BB962C8B-B14F-4D97-AF65-F5344CB8AC3E}">
        <p14:creationId xmlns:p14="http://schemas.microsoft.com/office/powerpoint/2010/main" val="779710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6E633-5EBF-EF63-902E-33C8B409D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e 2">
            <a:extLst>
              <a:ext uri="{FF2B5EF4-FFF2-40B4-BE49-F238E27FC236}">
                <a16:creationId xmlns:a16="http://schemas.microsoft.com/office/drawing/2014/main" id="{0151441C-5F86-30E3-7892-C9FF45671E23}"/>
              </a:ext>
            </a:extLst>
          </p:cNvPr>
          <p:cNvSpPr/>
          <p:nvPr/>
        </p:nvSpPr>
        <p:spPr>
          <a:xfrm>
            <a:off x="4345497" y="1113851"/>
            <a:ext cx="1234050" cy="5677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dirty="0"/>
              <a:t>Start</a:t>
            </a:r>
          </a:p>
        </p:txBody>
      </p:sp>
      <p:sp>
        <p:nvSpPr>
          <p:cNvPr id="4" name="Decisione 3">
            <a:extLst>
              <a:ext uri="{FF2B5EF4-FFF2-40B4-BE49-F238E27FC236}">
                <a16:creationId xmlns:a16="http://schemas.microsoft.com/office/drawing/2014/main" id="{D807D9EB-AB3B-CEA3-5531-635C4ECF15D1}"/>
              </a:ext>
            </a:extLst>
          </p:cNvPr>
          <p:cNvSpPr/>
          <p:nvPr/>
        </p:nvSpPr>
        <p:spPr>
          <a:xfrm>
            <a:off x="3501191" y="3834611"/>
            <a:ext cx="2922667" cy="985225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dirty="0"/>
              <a:t>CQ</a:t>
            </a:r>
          </a:p>
        </p:txBody>
      </p:sp>
      <p:sp>
        <p:nvSpPr>
          <p:cNvPr id="5" name="Dati 4">
            <a:extLst>
              <a:ext uri="{FF2B5EF4-FFF2-40B4-BE49-F238E27FC236}">
                <a16:creationId xmlns:a16="http://schemas.microsoft.com/office/drawing/2014/main" id="{288F5942-568C-27AD-B1DA-E3F87D47D4F5}"/>
              </a:ext>
            </a:extLst>
          </p:cNvPr>
          <p:cNvSpPr/>
          <p:nvPr/>
        </p:nvSpPr>
        <p:spPr>
          <a:xfrm>
            <a:off x="3300508" y="2007725"/>
            <a:ext cx="3324031" cy="812365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dirty="0"/>
              <a:t>Ordine di produzione</a:t>
            </a:r>
          </a:p>
        </p:txBody>
      </p:sp>
      <p:sp>
        <p:nvSpPr>
          <p:cNvPr id="12" name="Dati 11">
            <a:extLst>
              <a:ext uri="{FF2B5EF4-FFF2-40B4-BE49-F238E27FC236}">
                <a16:creationId xmlns:a16="http://schemas.microsoft.com/office/drawing/2014/main" id="{A6B067F9-C076-CF35-79AE-A3E2DCD2DD2B}"/>
              </a:ext>
            </a:extLst>
          </p:cNvPr>
          <p:cNvSpPr/>
          <p:nvPr/>
        </p:nvSpPr>
        <p:spPr>
          <a:xfrm>
            <a:off x="1652007" y="4941470"/>
            <a:ext cx="2628891" cy="812365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dirty="0"/>
              <a:t>Magazzino</a:t>
            </a:r>
          </a:p>
        </p:txBody>
      </p:sp>
      <p:sp>
        <p:nvSpPr>
          <p:cNvPr id="13" name="Ovale 12">
            <a:extLst>
              <a:ext uri="{FF2B5EF4-FFF2-40B4-BE49-F238E27FC236}">
                <a16:creationId xmlns:a16="http://schemas.microsoft.com/office/drawing/2014/main" id="{6FBF9367-7F22-3FF1-7A7F-BB93997E1F84}"/>
              </a:ext>
            </a:extLst>
          </p:cNvPr>
          <p:cNvSpPr/>
          <p:nvPr/>
        </p:nvSpPr>
        <p:spPr>
          <a:xfrm>
            <a:off x="2349431" y="6069078"/>
            <a:ext cx="1234050" cy="5677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dirty="0"/>
              <a:t>End</a:t>
            </a: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903925F5-D430-490C-4C4C-281CB003150A}"/>
              </a:ext>
            </a:extLst>
          </p:cNvPr>
          <p:cNvCxnSpPr>
            <a:cxnSpLocks/>
            <a:stCxn id="12" idx="4"/>
            <a:endCxn id="13" idx="0"/>
          </p:cNvCxnSpPr>
          <p:nvPr/>
        </p:nvCxnSpPr>
        <p:spPr>
          <a:xfrm>
            <a:off x="2966453" y="5753835"/>
            <a:ext cx="3" cy="31524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DA826085-3715-D84F-1868-694605A1D44D}"/>
              </a:ext>
            </a:extLst>
          </p:cNvPr>
          <p:cNvCxnSpPr>
            <a:cxnSpLocks/>
            <a:stCxn id="3" idx="4"/>
            <a:endCxn id="5" idx="1"/>
          </p:cNvCxnSpPr>
          <p:nvPr/>
        </p:nvCxnSpPr>
        <p:spPr>
          <a:xfrm>
            <a:off x="4962522" y="1681633"/>
            <a:ext cx="2" cy="32609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5875A254-81C1-FE99-57D6-CFBF5921B706}"/>
              </a:ext>
            </a:extLst>
          </p:cNvPr>
          <p:cNvCxnSpPr>
            <a:cxnSpLocks/>
            <a:stCxn id="36" idx="2"/>
            <a:endCxn id="4" idx="0"/>
          </p:cNvCxnSpPr>
          <p:nvPr/>
        </p:nvCxnSpPr>
        <p:spPr>
          <a:xfrm>
            <a:off x="4962523" y="3544085"/>
            <a:ext cx="2" cy="29052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ttore a gomito 32">
            <a:extLst>
              <a:ext uri="{FF2B5EF4-FFF2-40B4-BE49-F238E27FC236}">
                <a16:creationId xmlns:a16="http://schemas.microsoft.com/office/drawing/2014/main" id="{C709C492-E4F3-B807-92B4-A0AFA009D7EC}"/>
              </a:ext>
            </a:extLst>
          </p:cNvPr>
          <p:cNvCxnSpPr>
            <a:stCxn id="4" idx="1"/>
            <a:endCxn id="12" idx="1"/>
          </p:cNvCxnSpPr>
          <p:nvPr/>
        </p:nvCxnSpPr>
        <p:spPr>
          <a:xfrm rot="10800000" flipV="1">
            <a:off x="2966453" y="4327224"/>
            <a:ext cx="534738" cy="614246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a gomito 34">
            <a:extLst>
              <a:ext uri="{FF2B5EF4-FFF2-40B4-BE49-F238E27FC236}">
                <a16:creationId xmlns:a16="http://schemas.microsoft.com/office/drawing/2014/main" id="{CD83D389-6EFC-A96C-109E-D356DC24ED14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6423858" y="4327224"/>
            <a:ext cx="534737" cy="651225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6E19A124-7B1F-C878-A6C7-A3AFBFE26284}"/>
              </a:ext>
            </a:extLst>
          </p:cNvPr>
          <p:cNvSpPr txBox="1"/>
          <p:nvPr/>
        </p:nvSpPr>
        <p:spPr>
          <a:xfrm>
            <a:off x="1524385" y="3678203"/>
            <a:ext cx="19768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/>
              <a:t>Componenti OK</a:t>
            </a:r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5ABE4CBE-0535-AF6E-8230-892B484BCBBB}"/>
              </a:ext>
            </a:extLst>
          </p:cNvPr>
          <p:cNvSpPr txBox="1"/>
          <p:nvPr/>
        </p:nvSpPr>
        <p:spPr>
          <a:xfrm>
            <a:off x="962025" y="111803"/>
            <a:ext cx="79819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>
                <a:solidFill>
                  <a:prstClr val="black"/>
                </a:solidFill>
              </a:rPr>
              <a:t>Flowchart: </a:t>
            </a:r>
            <a:r>
              <a:rPr lang="it-IT" sz="3200" b="1" dirty="0"/>
              <a:t>Avanzamento di produzione monofase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1C134F17-5E21-607E-85DC-C9553C04F140}"/>
              </a:ext>
            </a:extLst>
          </p:cNvPr>
          <p:cNvSpPr txBox="1"/>
          <p:nvPr/>
        </p:nvSpPr>
        <p:spPr>
          <a:xfrm>
            <a:off x="6487800" y="3671183"/>
            <a:ext cx="19768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/>
              <a:t>Componenti KO</a:t>
            </a:r>
          </a:p>
        </p:txBody>
      </p:sp>
      <p:sp>
        <p:nvSpPr>
          <p:cNvPr id="8" name="Dati 7">
            <a:extLst>
              <a:ext uri="{FF2B5EF4-FFF2-40B4-BE49-F238E27FC236}">
                <a16:creationId xmlns:a16="http://schemas.microsoft.com/office/drawing/2014/main" id="{466A5DE6-9B44-B56C-6193-52A05201F458}"/>
              </a:ext>
            </a:extLst>
          </p:cNvPr>
          <p:cNvSpPr/>
          <p:nvPr/>
        </p:nvSpPr>
        <p:spPr>
          <a:xfrm>
            <a:off x="5644149" y="4978449"/>
            <a:ext cx="2628891" cy="812365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dirty="0"/>
              <a:t>Magazzino scarti</a:t>
            </a:r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EF486FFF-F328-149C-3365-77364D6B8B19}"/>
              </a:ext>
            </a:extLst>
          </p:cNvPr>
          <p:cNvSpPr/>
          <p:nvPr/>
        </p:nvSpPr>
        <p:spPr>
          <a:xfrm>
            <a:off x="6341570" y="6066588"/>
            <a:ext cx="1234050" cy="5677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dirty="0"/>
              <a:t>End</a:t>
            </a:r>
          </a:p>
        </p:txBody>
      </p: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89F52159-7E67-5AF9-8698-090E9A83DB8D}"/>
              </a:ext>
            </a:extLst>
          </p:cNvPr>
          <p:cNvCxnSpPr>
            <a:cxnSpLocks/>
            <a:stCxn id="8" idx="4"/>
            <a:endCxn id="9" idx="0"/>
          </p:cNvCxnSpPr>
          <p:nvPr/>
        </p:nvCxnSpPr>
        <p:spPr>
          <a:xfrm>
            <a:off x="6958595" y="5790814"/>
            <a:ext cx="0" cy="27577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Elaborazione 35">
            <a:extLst>
              <a:ext uri="{FF2B5EF4-FFF2-40B4-BE49-F238E27FC236}">
                <a16:creationId xmlns:a16="http://schemas.microsoft.com/office/drawing/2014/main" id="{E8229057-D883-CF41-C9C2-5FED84AD96A7}"/>
              </a:ext>
            </a:extLst>
          </p:cNvPr>
          <p:cNvSpPr/>
          <p:nvPr/>
        </p:nvSpPr>
        <p:spPr>
          <a:xfrm>
            <a:off x="4008363" y="3121646"/>
            <a:ext cx="1908319" cy="422439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dirty="0"/>
              <a:t>Lavorazione</a:t>
            </a:r>
          </a:p>
        </p:txBody>
      </p: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2D678139-964C-546E-59B0-C29E20FCB021}"/>
              </a:ext>
            </a:extLst>
          </p:cNvPr>
          <p:cNvCxnSpPr>
            <a:cxnSpLocks/>
            <a:stCxn id="5" idx="4"/>
            <a:endCxn id="36" idx="0"/>
          </p:cNvCxnSpPr>
          <p:nvPr/>
        </p:nvCxnSpPr>
        <p:spPr>
          <a:xfrm flipH="1">
            <a:off x="4962523" y="2820090"/>
            <a:ext cx="1" cy="30155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5902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AADA5-6B49-26DF-8C44-E21951DC7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e 2">
            <a:extLst>
              <a:ext uri="{FF2B5EF4-FFF2-40B4-BE49-F238E27FC236}">
                <a16:creationId xmlns:a16="http://schemas.microsoft.com/office/drawing/2014/main" id="{F6E412CC-C96F-485A-F009-DF99F08E570E}"/>
              </a:ext>
            </a:extLst>
          </p:cNvPr>
          <p:cNvSpPr/>
          <p:nvPr/>
        </p:nvSpPr>
        <p:spPr>
          <a:xfrm>
            <a:off x="5652706" y="258896"/>
            <a:ext cx="1525953" cy="4436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dirty="0"/>
              <a:t>Start</a:t>
            </a:r>
          </a:p>
        </p:txBody>
      </p:sp>
      <p:sp>
        <p:nvSpPr>
          <p:cNvPr id="5" name="Dati 4">
            <a:extLst>
              <a:ext uri="{FF2B5EF4-FFF2-40B4-BE49-F238E27FC236}">
                <a16:creationId xmlns:a16="http://schemas.microsoft.com/office/drawing/2014/main" id="{F64C109D-768F-CB02-1C6C-7C49EB2A7040}"/>
              </a:ext>
            </a:extLst>
          </p:cNvPr>
          <p:cNvSpPr/>
          <p:nvPr/>
        </p:nvSpPr>
        <p:spPr>
          <a:xfrm>
            <a:off x="4844717" y="961448"/>
            <a:ext cx="3141931" cy="634769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dirty="0"/>
              <a:t>Ordine di produzione</a:t>
            </a:r>
          </a:p>
        </p:txBody>
      </p: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17970A01-9F8F-DED9-B568-D5568AA9B731}"/>
              </a:ext>
            </a:extLst>
          </p:cNvPr>
          <p:cNvCxnSpPr>
            <a:cxnSpLocks/>
            <a:stCxn id="3" idx="4"/>
            <a:endCxn id="5" idx="1"/>
          </p:cNvCxnSpPr>
          <p:nvPr/>
        </p:nvCxnSpPr>
        <p:spPr>
          <a:xfrm>
            <a:off x="6415683" y="702552"/>
            <a:ext cx="0" cy="25889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D5B5A4A8-E9CB-3D16-9863-0A73A36A600D}"/>
              </a:ext>
            </a:extLst>
          </p:cNvPr>
          <p:cNvSpPr txBox="1"/>
          <p:nvPr/>
        </p:nvSpPr>
        <p:spPr>
          <a:xfrm>
            <a:off x="83003" y="85347"/>
            <a:ext cx="47617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 dirty="0">
                <a:solidFill>
                  <a:prstClr val="black"/>
                </a:solidFill>
              </a:rPr>
              <a:t>Flowchart dell’o</a:t>
            </a:r>
            <a:r>
              <a:rPr lang="it-IT" sz="3200" b="1" dirty="0">
                <a:solidFill>
                  <a:prstClr val="black"/>
                </a:solidFill>
                <a:latin typeface="Aptos" panose="02110004020202020204"/>
              </a:rPr>
              <a:t>rdine di produzione multifase (impastatrice)</a:t>
            </a:r>
            <a:endParaRPr lang="it-IT" dirty="0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5BA64977-3DDA-999D-DE72-279A086C327C}"/>
              </a:ext>
            </a:extLst>
          </p:cNvPr>
          <p:cNvSpPr/>
          <p:nvPr/>
        </p:nvSpPr>
        <p:spPr>
          <a:xfrm>
            <a:off x="5652706" y="6155449"/>
            <a:ext cx="1525953" cy="4436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dirty="0"/>
              <a:t>End</a:t>
            </a:r>
          </a:p>
        </p:txBody>
      </p: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7EF9046E-DE93-5D2A-E429-62189DBA4D27}"/>
              </a:ext>
            </a:extLst>
          </p:cNvPr>
          <p:cNvCxnSpPr>
            <a:cxnSpLocks/>
            <a:stCxn id="20" idx="4"/>
            <a:endCxn id="9" idx="0"/>
          </p:cNvCxnSpPr>
          <p:nvPr/>
        </p:nvCxnSpPr>
        <p:spPr>
          <a:xfrm>
            <a:off x="6415683" y="5896554"/>
            <a:ext cx="0" cy="25889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aborazione 5">
            <a:extLst>
              <a:ext uri="{FF2B5EF4-FFF2-40B4-BE49-F238E27FC236}">
                <a16:creationId xmlns:a16="http://schemas.microsoft.com/office/drawing/2014/main" id="{043E67FE-0BBC-010C-31AF-12613FD8BCE3}"/>
              </a:ext>
            </a:extLst>
          </p:cNvPr>
          <p:cNvSpPr/>
          <p:nvPr/>
        </p:nvSpPr>
        <p:spPr>
          <a:xfrm>
            <a:off x="5461524" y="1855113"/>
            <a:ext cx="1908319" cy="422439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dirty="0"/>
              <a:t>Fase 1</a:t>
            </a:r>
          </a:p>
        </p:txBody>
      </p:sp>
      <p:sp>
        <p:nvSpPr>
          <p:cNvPr id="10" name="Elaborazione 9">
            <a:extLst>
              <a:ext uri="{FF2B5EF4-FFF2-40B4-BE49-F238E27FC236}">
                <a16:creationId xmlns:a16="http://schemas.microsoft.com/office/drawing/2014/main" id="{2FEC7158-6F69-6BC4-9420-7D6604279A5E}"/>
              </a:ext>
            </a:extLst>
          </p:cNvPr>
          <p:cNvSpPr/>
          <p:nvPr/>
        </p:nvSpPr>
        <p:spPr>
          <a:xfrm>
            <a:off x="5461524" y="2536448"/>
            <a:ext cx="1908319" cy="422439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dirty="0"/>
              <a:t>Fase 2</a:t>
            </a:r>
          </a:p>
        </p:txBody>
      </p:sp>
      <p:sp>
        <p:nvSpPr>
          <p:cNvPr id="11" name="Elaborazione 10">
            <a:extLst>
              <a:ext uri="{FF2B5EF4-FFF2-40B4-BE49-F238E27FC236}">
                <a16:creationId xmlns:a16="http://schemas.microsoft.com/office/drawing/2014/main" id="{F9288D1D-142A-50A5-271A-0C1A5DF742DA}"/>
              </a:ext>
            </a:extLst>
          </p:cNvPr>
          <p:cNvSpPr/>
          <p:nvPr/>
        </p:nvSpPr>
        <p:spPr>
          <a:xfrm>
            <a:off x="5461524" y="3217783"/>
            <a:ext cx="1908319" cy="422439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dirty="0"/>
              <a:t>Fase 3</a:t>
            </a:r>
          </a:p>
        </p:txBody>
      </p:sp>
      <p:sp>
        <p:nvSpPr>
          <p:cNvPr id="14" name="Elaborazione 13">
            <a:extLst>
              <a:ext uri="{FF2B5EF4-FFF2-40B4-BE49-F238E27FC236}">
                <a16:creationId xmlns:a16="http://schemas.microsoft.com/office/drawing/2014/main" id="{78D56AFF-68EE-03F3-4054-00E9596D1279}"/>
              </a:ext>
            </a:extLst>
          </p:cNvPr>
          <p:cNvSpPr/>
          <p:nvPr/>
        </p:nvSpPr>
        <p:spPr>
          <a:xfrm>
            <a:off x="5461524" y="3899117"/>
            <a:ext cx="1908319" cy="422439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dirty="0"/>
              <a:t>Fase 4</a:t>
            </a:r>
          </a:p>
        </p:txBody>
      </p:sp>
      <p:sp>
        <p:nvSpPr>
          <p:cNvPr id="20" name="Dati 19">
            <a:extLst>
              <a:ext uri="{FF2B5EF4-FFF2-40B4-BE49-F238E27FC236}">
                <a16:creationId xmlns:a16="http://schemas.microsoft.com/office/drawing/2014/main" id="{391E2A5C-97A8-D79F-E7C9-73410F0E0B54}"/>
              </a:ext>
            </a:extLst>
          </p:cNvPr>
          <p:cNvSpPr/>
          <p:nvPr/>
        </p:nvSpPr>
        <p:spPr>
          <a:xfrm>
            <a:off x="4844717" y="5261785"/>
            <a:ext cx="3141931" cy="634769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dirty="0"/>
              <a:t>Magazzino</a:t>
            </a:r>
          </a:p>
        </p:txBody>
      </p:sp>
      <p:sp>
        <p:nvSpPr>
          <p:cNvPr id="21" name="Elaborazione 20">
            <a:extLst>
              <a:ext uri="{FF2B5EF4-FFF2-40B4-BE49-F238E27FC236}">
                <a16:creationId xmlns:a16="http://schemas.microsoft.com/office/drawing/2014/main" id="{C91E93A0-FD1C-7A00-9537-69B67961785E}"/>
              </a:ext>
            </a:extLst>
          </p:cNvPr>
          <p:cNvSpPr/>
          <p:nvPr/>
        </p:nvSpPr>
        <p:spPr>
          <a:xfrm>
            <a:off x="5461524" y="4580451"/>
            <a:ext cx="1908319" cy="422439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dirty="0"/>
              <a:t>Collaudo</a:t>
            </a:r>
          </a:p>
        </p:txBody>
      </p: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C4ACF9AA-F64E-F933-D180-37764DAABAAF}"/>
              </a:ext>
            </a:extLst>
          </p:cNvPr>
          <p:cNvCxnSpPr>
            <a:cxnSpLocks/>
            <a:stCxn id="5" idx="4"/>
            <a:endCxn id="6" idx="0"/>
          </p:cNvCxnSpPr>
          <p:nvPr/>
        </p:nvCxnSpPr>
        <p:spPr>
          <a:xfrm>
            <a:off x="6415683" y="1596217"/>
            <a:ext cx="1" cy="25889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F04D4C50-5559-8302-27C3-9169E50AA16B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>
            <a:off x="6415684" y="2277552"/>
            <a:ext cx="0" cy="25889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6A64D993-157F-410E-B137-E9D652366A4B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6415684" y="2958887"/>
            <a:ext cx="0" cy="25889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2 35">
            <a:extLst>
              <a:ext uri="{FF2B5EF4-FFF2-40B4-BE49-F238E27FC236}">
                <a16:creationId xmlns:a16="http://schemas.microsoft.com/office/drawing/2014/main" id="{EE2E941E-1531-5DDA-7DF5-6856B86FE2EC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>
            <a:off x="6415684" y="3640222"/>
            <a:ext cx="0" cy="25889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ttore 2 38">
            <a:extLst>
              <a:ext uri="{FF2B5EF4-FFF2-40B4-BE49-F238E27FC236}">
                <a16:creationId xmlns:a16="http://schemas.microsoft.com/office/drawing/2014/main" id="{28A0A7F5-F6EA-3B6C-0AAE-51CEE2F68FB8}"/>
              </a:ext>
            </a:extLst>
          </p:cNvPr>
          <p:cNvCxnSpPr>
            <a:cxnSpLocks/>
            <a:stCxn id="14" idx="2"/>
            <a:endCxn id="21" idx="0"/>
          </p:cNvCxnSpPr>
          <p:nvPr/>
        </p:nvCxnSpPr>
        <p:spPr>
          <a:xfrm>
            <a:off x="6415684" y="4321556"/>
            <a:ext cx="0" cy="25889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ttore 2 42">
            <a:extLst>
              <a:ext uri="{FF2B5EF4-FFF2-40B4-BE49-F238E27FC236}">
                <a16:creationId xmlns:a16="http://schemas.microsoft.com/office/drawing/2014/main" id="{222F4B33-8E57-826F-178D-9B74EC8933FD}"/>
              </a:ext>
            </a:extLst>
          </p:cNvPr>
          <p:cNvCxnSpPr>
            <a:cxnSpLocks/>
            <a:stCxn id="21" idx="2"/>
            <a:endCxn id="20" idx="1"/>
          </p:cNvCxnSpPr>
          <p:nvPr/>
        </p:nvCxnSpPr>
        <p:spPr>
          <a:xfrm flipH="1">
            <a:off x="6415683" y="5002890"/>
            <a:ext cx="1" cy="25889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62670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Tema di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i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348</Words>
  <Application>Microsoft Office PowerPoint</Application>
  <PresentationFormat>A4 (21x29,7 cm)</PresentationFormat>
  <Paragraphs>113</Paragraphs>
  <Slides>10</Slides>
  <Notes>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Giorgio Alessandria</dc:creator>
  <cp:lastModifiedBy>Giorgio Alessandria</cp:lastModifiedBy>
  <cp:revision>11</cp:revision>
  <cp:lastPrinted>2025-10-22T16:15:25Z</cp:lastPrinted>
  <dcterms:created xsi:type="dcterms:W3CDTF">2025-10-30T12:45:29Z</dcterms:created>
  <dcterms:modified xsi:type="dcterms:W3CDTF">2025-11-06T13:08:51Z</dcterms:modified>
</cp:coreProperties>
</file>